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Nome, disciplina, professor. Uma frase: o trabalho responde se da pra saber, antes de falar qualquer coisa, quais empresas tem propensao a contratar uma consultoria.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pela cena, nao pelo numero. Hoje o Sebrae nao prospecta consultoria: o cliente chega com a demanda, a gente resolve, ele vai embora. E explique que isso nao e falta de vontade - oferta fria afasta cliente. O trabalho nasce dessa 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numero. 207 mil empresas, 2,5% contratam. Chutar da 1 acerto a cada 40 tentativas. A simulacao confirma: sorteando, a taxa fica em 2,49%. Esse e o ponto de partida contra o qual tudo vai ser comparado.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esta o coracao da justificativa metodologica. Falso positivo custa minutos, falso negativo custa a venda inteira. Por isso recall e a metrica prioritaria. E explique por que acuracia nao serve: 97,5% de acerto sem encontrar ninguem. MCC e Brier entram como contrapesos, pra impedir que o recall engane.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variaveis: tres numericas e quatro categoricas. Destaque a linha ambar: 'Qtd de consultorias contratadas' e zero exatamente quando a empresa nao contratou. Testei com tabela cruzada e e vazamento perfeito. Um modelo com ela teria acerto quase perfeito no papel e serventia nenhuma na pratica, porque no momento de decidir esse numero ainda nao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prova que o problema e aprendivel. EPP contrata 12%, MEI 0,32% - 37 vezes de diferenca. Energia 11%, TIC 2,6%. E quem contrata tem historico de relacionamento maior: mediana de 17 atendimentos contra 4. Se todas as fatias tivessem 2,5%, nao haveria padrao nenhum pra rede 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passos. Destaque o split estratificado: a proporcao de contratantes ficou identica nos tres conjuntos, 2,500 / 2,501 / 2,501 por cento - isso importa numa base com 2,5% de positivos, senao a comparacao seria injusta. E o teste foi usado uma vez so,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 porque o dado e tabular. A saida e sigmoide: devolve uma nota entre 0 e 1 pra cada empresa, e quem passa de 0,5 e sinalizado - corte padrao, nao mexi nele. Os chips sao a configuracao que o Optuna escolheu: 3 camadas, 128 unidades, dropout 0,29, AdamW. Foram 20 tentativas em 8 minutos e meio, com 4 podadas no meio do treino pelo MedianPruner. Ponto de coerencia: o EarlyStopping monitora o recall de validacao, nao a perda - senao o modelo restaurado no fim seria o de menor perda, que nao e o de maior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contra-peso diz a rede quanto custa cada erro. Sem peso, ignorar a minoria e estatisticamente esperto: so 104 empresas apontadas em 31 mil. Com peso balanceado, perder um contratante custa 39x mais que um falso alarme, e a rede aponta 7 mil. Repare no padrao: recall sobe de 3 pra 89, precisao cai de 25 pra 10 - nao e defeito, e o mecanismo. E tem um preco escondido: a probabilidade infla. A taxa real e 2,5%, mas o modelo balanceado preve 26,6% em media, e o Brier vai de 0,033 pra 0,137. A saida serve pra ordenar empresas, nao pra dizer 'este cliente tem 26% de chance'.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principal. Capturou 720 dos 779 contratantes e deixou passar 59. Para isso sinalizou 9.006 empresas, 28,9% da base. Aponte a linha de baixo da matriz: 720 acertos contra 59 escapes. A curva ROC tem AUC de 0,900. Se perguntarem de calibracao: ela esta longe da diagonal por causa do peso de classe, o grafico completo esta no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arquiteturas, os mesmos dados. A base codifica cada categoria pela frequencia; a outra aprende um vetor por municipio e por segmento. O modelo com embeddings ganha em precisao, MCC, ROC-AUC e tambem no Brier, que nao coube na tabela: 0,124 contra 0,163. Perde so no recall, por 1,6 ponto - captura 13 contratantes a menos e poupa 2.710 abordagens. Como o criterio declarado e recall, o base venceu. Mas isso expoe o limite de decidir por uma metrica so: se fosse qualquer outra coluna, a decisao se inverteria. E por isso que MCC e Brier estao aqui como contrapesos.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 as empresas do teste em dez faixas por probabilidade prevista. A primeira converte a 15,35%, seis vezes o acaso, e ja contem 61% de todos os contratantes. Nos 20% melhores estao 83%. Da metade pra baixo praticamente nao ha ninguem. Na curva da direita, quanto mais longe da linha pontilhada, melhor a ordenacao.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limitacoes, uma frase cada. A primeira e a mais importante e a mais honesta: como hoje o Sebrae nao prospecta, o modelo aprendeu com quem procura o servico espontaneamente, e nao com quem responderia a uma oferta. A segunda ja foi demonstrada no slide anterior. A terceira e a calibracao. A quarta aponta o caminho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O passo que mais muda o jogo e o piloto, porque gera o dado que hoje nao existe: como o cliente reage a uma oferta. Depois, engenharia de atributos e busca de hiperparametros pros embeddings. E o destino do modelo, num cenario hipotetico, e o CRM: um sinal pra quem atende de que vale aprofundar o relacionamento com aquele cliente. Encerre com o link do repositorio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6035040" cy="60350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840480" cy="384048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FINAL  ·  APRENDIZADO PROFUNDO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tem propensão a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contratar uma consultoria?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neural para priorizar o relacionamento com empresas no Sebrae/RN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Medeiros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PPgTI/IMD/UFRN  ·  Prof. Josenalde Oliveira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ninguém oferece nada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chega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demanda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84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gente resolve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ele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trouxe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084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vai embora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que nada mais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oferecido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descuido: oferecer no escuro tem risco.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937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oferta fora de hora pode afastar o cliente. Por isso o Sebrae/RN espera a demanda chegar — e a oportunidade de aprofundar o relacionamento se perde em silêncio.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trabalho: dá para saber, antes de falar qualquer coisa, com quem vale aprofundar?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começássemos a oferecer no chute?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207.611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na base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64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limpeza, de 220.168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contratam consultoria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64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5.191 empresas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03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40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de quem chuta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64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abordagens por contratação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E9EC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622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Simulação: sortear quem abordar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200 simulações no conjunto de teste, a taxa de acerto de quem sorteia ficou em 2,49%, variando de 1,33% a 4,39%. Nenhuma correlação com a resposta: MCC = 0.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critério, abordar é loteria — e o custo de errar recai sobre o time comercial.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erros não custam o mesmo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positivo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42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Sinalizamos uma empresa que não vai contratar.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alguns minutos do time comercial.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19672" y="18288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39712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negativo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2542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Deixamos passar uma empresa que contrataria.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a oportunidade inteira — e ela nunca aparece em relatório.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9EC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métrica prioritária é o recall da classe “Contratou”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não serve: responder “não contrata” para todo mundo já acerta 97,5% e não encontra ninguém.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E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prioritária: recall da classe 1.  ·  Contrapesos: MCC e Brier score.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variáveis, e o que ficou de fora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Sebrae/RN enriquecida com dados cadastrais da Receita Federal.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0288" y="19202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920240"/>
            <a:ext cx="478231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67728" y="19202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31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77440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de atendimentos PJ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80560" y="237744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0288" y="237744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0" y="2377440"/>
            <a:ext cx="47823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2377440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39319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77977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de projetos atendidos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480560" y="2779776"/>
            <a:ext cx="237744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0288" y="27797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0" y="2779776"/>
            <a:ext cx="4782312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2779776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3182112"/>
            <a:ext cx="3931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18211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idade_empresa_meses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0288" y="31821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858000" y="3182112"/>
            <a:ext cx="47823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67728" y="318211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3584448"/>
            <a:ext cx="39319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584448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ds_sebrae_segmento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480560" y="3584448"/>
            <a:ext cx="237744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0288" y="358444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(20)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858000" y="3584448"/>
            <a:ext cx="4782312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584448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48640" y="3986784"/>
            <a:ext cx="3931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3986784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nm_municipio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4480560" y="3986784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90288" y="398678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(167)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858000" y="3986784"/>
            <a:ext cx="47823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67728" y="3986784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548640" y="4389120"/>
            <a:ext cx="39319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" y="4389120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ds_tipo_estabelecimento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4480560" y="4389120"/>
            <a:ext cx="237744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90288" y="43891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(2)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858000" y="4389120"/>
            <a:ext cx="4782312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67728" y="4389120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48640" y="4791456"/>
            <a:ext cx="3931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" y="47914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sg_porte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4480560" y="4791456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90288" y="47914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(4)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6858000" y="4791456"/>
            <a:ext cx="478231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67728" y="4791456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548640" y="5193792"/>
            <a:ext cx="3931920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368" y="519379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de consultorias contratadas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4480560" y="5193792"/>
            <a:ext cx="2377440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90288" y="519379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6858000" y="5193792"/>
            <a:ext cx="4782312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67728" y="519379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REMOVIDA — vaza a resposta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Vazamento: essa coluna só é preenchida depois da contratação — no momento da decisão ela não existe.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sinal para aprender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contratação varia muito entre fatias da base — se fosse 2,5% em todas, não haveria o que aprender.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659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35808" y="19659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9659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42316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926080" y="242316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242316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9.131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80560" y="2423160"/>
            <a:ext cx="1554480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242316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11,98%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237744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82549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926080" y="2825496"/>
            <a:ext cx="155448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2825496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1.964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480560" y="2825496"/>
            <a:ext cx="155448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0288" y="2825496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5,14%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3227832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2278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926080" y="3227832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35808" y="322783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77.082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480560" y="3227832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0288" y="322783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4,69%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3630168"/>
            <a:ext cx="237744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63016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926080" y="3630168"/>
            <a:ext cx="155448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35808" y="363016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119.434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4480560" y="3630168"/>
            <a:ext cx="1554480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90288" y="363016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0,32%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400800" y="1965960"/>
            <a:ext cx="30175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10528" y="196596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418320" y="1965960"/>
            <a:ext cx="1188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528048" y="19659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607040" y="1965960"/>
            <a:ext cx="103327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716768" y="196596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0" y="2423160"/>
            <a:ext cx="3017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10528" y="242316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9418320" y="2423160"/>
            <a:ext cx="1188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28048" y="2423160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1.302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10607040" y="2423160"/>
            <a:ext cx="1033272" cy="402336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716768" y="242316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11,21%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400800" y="2825496"/>
            <a:ext cx="30175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10528" y="2825496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Agronegócio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9418320" y="2825496"/>
            <a:ext cx="11887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28048" y="2825496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10607040" y="2825496"/>
            <a:ext cx="1033272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716768" y="2825496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9,73%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6400800" y="3227832"/>
            <a:ext cx="3017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10528" y="322783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9418320" y="3227832"/>
            <a:ext cx="1188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528048" y="322783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10.712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10607040" y="3227832"/>
            <a:ext cx="10332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716768" y="322783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5,46%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6400800" y="3630168"/>
            <a:ext cx="30175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10528" y="363016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9418320" y="3630168"/>
            <a:ext cx="1188720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528048" y="3630168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3.840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10607040" y="3630168"/>
            <a:ext cx="1033272" cy="402336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716768" y="3630168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2,63%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548640" y="41605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68680" y="43159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contrata também se comporta diferente</a:t>
            </a:r>
            <a:endParaRPr lang="en-US" sz="1700" dirty="0"/>
          </a:p>
        </p:txBody>
      </p:sp>
      <p:sp>
        <p:nvSpPr>
          <p:cNvPr id="67" name="Text 65"/>
          <p:cNvSpPr txBox="1"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quem contratou: 17 atendimentos, 4 projetos, 99 meses de empresa.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quem não contratou: 4 atendimentos, 2 projetos, 73 meses.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EPP contrata 37x mais que um MEI. É esse contraste que a rede vai aprender a explorar.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experimental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07592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759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0779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linhas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enriquecimento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42616" y="1975104"/>
            <a:ext cx="164592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575304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53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487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fixo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90779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10328" y="1975104"/>
            <a:ext cx="164592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3016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4301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487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290779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padronização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nas categóricas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78040" y="1975104"/>
            <a:ext cx="164592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0728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107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487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90779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embeddings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45752" y="1975104"/>
            <a:ext cx="164592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784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784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487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19488" y="290779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vez,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94560" y="397764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04288" y="39776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56048" y="3977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397764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93408" y="3977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21040" y="397764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30768" y="3977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contratantes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194560" y="4434840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04288" y="44348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4846320" y="4434840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56048" y="44348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145.327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583680" y="4434840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93408" y="44348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3.633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321040" y="4434840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30768" y="44348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2,500%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2194560" y="4818888"/>
            <a:ext cx="2651760" cy="38404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04288" y="481888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4846320" y="4818888"/>
            <a:ext cx="1737360" cy="38404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56048" y="4818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31.142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6583680" y="4818888"/>
            <a:ext cx="1737360" cy="38404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93408" y="4818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8321040" y="4818888"/>
            <a:ext cx="1737360" cy="38404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30768" y="4818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2,501%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2194560" y="5202936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04288" y="520293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4846320" y="5202936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956048" y="520293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31.142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6583680" y="5202936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93408" y="520293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8321040" y="5202936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430768" y="520293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2,501%</a:t>
            </a:r>
            <a:endParaRPr lang="en-US" sz="1450" dirty="0"/>
          </a:p>
        </p:txBody>
      </p:sp>
      <p:sp>
        <p:nvSpPr>
          <p:cNvPr id="60" name="Shape 58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EFD9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prioritária: recall da classe 1.  ·  Contrapesos: MCC e Brier score.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rede densa para dado tabular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9EC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variáveis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72968" y="2743200"/>
            <a:ext cx="182880" cy="201168"/>
          </a:xfrm>
          <a:prstGeom prst="rightArrow">
            <a:avLst/>
          </a:prstGeom>
          <a:solidFill>
            <a:srgbClr val="5B6B94"/>
          </a:solidFill>
          <a:ln/>
        </p:spPr>
      </p:sp>
      <p:sp>
        <p:nvSpPr>
          <p:cNvPr id="8" name="Shape 6"/>
          <p:cNvSpPr/>
          <p:nvPr/>
        </p:nvSpPr>
        <p:spPr>
          <a:xfrm>
            <a:off x="3374136" y="19659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11296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511296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em funil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98464" y="2743200"/>
            <a:ext cx="182880" cy="201168"/>
          </a:xfrm>
          <a:prstGeom prst="rightArrow">
            <a:avLst/>
          </a:prstGeom>
          <a:solidFill>
            <a:srgbClr val="5B6B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9632" y="19659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36792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+ Dropout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e regularização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23960" y="2743200"/>
            <a:ext cx="182880" cy="201168"/>
          </a:xfrm>
          <a:prstGeom prst="rightArrow">
            <a:avLst/>
          </a:prstGeom>
          <a:solidFill>
            <a:srgbClr val="5B6B9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5128" y="19659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62288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62288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CNN (imagem) nem RNN (sequência): cada empresa é uma linha independente.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2130552" cy="640080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6344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camadas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88920" y="4663440"/>
            <a:ext cx="2130552" cy="640080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80360" y="466344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unidades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4663440"/>
            <a:ext cx="2130552" cy="640080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0" y="466344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0,29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69480" y="4663440"/>
            <a:ext cx="2130552" cy="640080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60920" y="466344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09760" y="4663440"/>
            <a:ext cx="2130552" cy="640080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0" y="466344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trials · 4 podados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92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escolhidos pelo Optuna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EarlyStopping monitora recall, não perda — treino e busca puxam para o mesmo lado.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peso dar a quem contrata?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arquitetura, mesmo corte de 0,5. Só o peso muda. Medido na validação.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1927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2860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classe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867912" y="2286000"/>
            <a:ext cx="21945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77640" y="228600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062472" y="2286000"/>
            <a:ext cx="29260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22860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sinalizadas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988552" y="2286000"/>
            <a:ext cx="26517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98280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192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834640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peso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67912" y="2834640"/>
            <a:ext cx="2194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2834640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62472" y="2834640"/>
            <a:ext cx="2926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834640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88552" y="2834640"/>
            <a:ext cx="26517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8280" y="2834640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25,0%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331927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584448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suave (√ do inverso)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67912" y="3584448"/>
            <a:ext cx="2194560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3584448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49,4%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062472" y="3584448"/>
            <a:ext cx="2926080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584448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988552" y="3584448"/>
            <a:ext cx="2651760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98280" y="3584448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22,4%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48640" y="4334256"/>
            <a:ext cx="33192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334256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 (inverso)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867912" y="4334256"/>
            <a:ext cx="2194560" cy="749808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77640" y="4334256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89,2%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062472" y="4334256"/>
            <a:ext cx="2926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4334256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7.009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988552" y="4334256"/>
            <a:ext cx="26517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98280" y="4334256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9,9%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3867912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recall sobe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354312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precisão cai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pontos da mesma curva. Escolhemos o da direita, porque o critério é recall.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dos 779 contratantes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teste: 31.142 empresas que nenhuma etapa do treino viu.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92,4%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recall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468880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3931920"/>
            <a:ext cx="2468880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3,2x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acaso</a:t>
            </a:r>
            <a:endParaRPr lang="en-US" sz="1500" dirty="0"/>
          </a:p>
        </p:txBody>
      </p:sp>
      <p:pic>
        <p:nvPicPr>
          <p:cNvPr id="14" name="Image 0" descr="/home/claude/trabalho_final/pptx_build/assets/mat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57400"/>
            <a:ext cx="4434840" cy="369417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de 0,900 — o modelo ordena bem quem tende a contratar.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no mesmo teste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31.142, limiar = 0,5. Âmbar marca o melhor de cada coluna.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044952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286000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593592" y="2286000"/>
            <a:ext cx="16459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03320" y="228600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39512" y="2286000"/>
            <a:ext cx="21945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9240" y="22860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sinalizadas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34072" y="2286000"/>
            <a:ext cx="1554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22860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88552" y="2286000"/>
            <a:ext cx="12801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228600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268712" y="2286000"/>
            <a:ext cx="13716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78440" y="228600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30449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852928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593592" y="2852928"/>
            <a:ext cx="1645920" cy="822960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285292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92,4%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239512" y="2852928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852928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434072" y="2852928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285292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988552" y="2852928"/>
            <a:ext cx="1280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2852928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0,224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268712" y="2852928"/>
            <a:ext cx="1371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78440" y="285292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48640" y="3675888"/>
            <a:ext cx="3044952" cy="822960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675888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embeddings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593592" y="3675888"/>
            <a:ext cx="1645920" cy="822960"/>
          </a:xfrm>
          <a:prstGeom prst="rect">
            <a:avLst/>
          </a:prstGeom>
          <a:solidFill>
            <a:srgbClr val="EEF3FC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03320" y="367588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90,8%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239512" y="3675888"/>
            <a:ext cx="2194560" cy="822960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9240" y="3675888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6.296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434072" y="3675888"/>
            <a:ext cx="1554480" cy="822960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43800" y="367588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11,2%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988552" y="3675888"/>
            <a:ext cx="1280160" cy="822960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98280" y="3675888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0,281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0268712" y="3675888"/>
            <a:ext cx="1371600" cy="822960"/>
          </a:xfrm>
          <a:prstGeom prst="rect">
            <a:avLst/>
          </a:prstGeom>
          <a:solidFill>
            <a:srgbClr val="FBEFD9"/>
          </a:solidFill>
          <a:ln w="9525">
            <a:solidFill>
              <a:srgbClr val="E9EC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378440" y="3675888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0,929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contratantes a mais  ·  2.710 abordagens a mais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EFD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base lidera apenas em recall — e é exatamente por isso que ele é o escolhido.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ordenação é o que tem valor</a:t>
            </a:r>
            <a:endParaRPr lang="en-US" sz="3400" dirty="0"/>
          </a:p>
        </p:txBody>
      </p:sp>
      <p:pic>
        <p:nvPicPr>
          <p:cNvPr id="4" name="Image 0" descr="/home/claude/trabalho_final/pptx_build/assets/gan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6809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783080"/>
            <a:ext cx="3136392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6,1x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4505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que o acaso 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 maior probabilidade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3246120"/>
            <a:ext cx="3136392" cy="1280160"/>
          </a:xfrm>
          <a:prstGeom prst="roundRect">
            <a:avLst>
              <a:gd name="adj" fmla="val 6429"/>
            </a:avLst>
          </a:prstGeom>
          <a:solidFill>
            <a:srgbClr val="EEF3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0" y="3337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61,4%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913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contratantes estão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nesses primeiros 10%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metade da lista para baixo, quase não há contratante algum.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Prospectando sem critério: 40 contatos por contratação. Seguindo o modelo: 12,5.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CRÍTICO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85416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um mundo reativo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96312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registra quem procura o serviço, não quem aceitaria uma oferta. São coisas parecidas, não idênticas.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8745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85416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sozinho tem ponto cego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96312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de arquiteturas é a prova: o modelo escolhido sinaliza 43% mais empresas para capturar 1,8 ponto a mais.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895344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785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não é literal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206240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peso de classe infla a saída: média de 26,6% para uma taxa real de 2,5%. Serve para ranquear, não para informar.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9632" y="358444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895344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48272" y="3785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variáveis enxuto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206240"/>
            <a:ext cx="4855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variáveis, sem engenharia de atributos. É provavelmente onde está o ganho que falta.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8704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limitações invalida o resultado — todas apontam o próximo experimento.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657600"/>
            <a:ext cx="6217920" cy="621792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é o começo,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o fim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441448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13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que gera dado de oferta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426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 um grupo sinalizado e registrar a resposta — é o que resolve a limitação principal.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310128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182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atributos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5112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Cruzamentos entre segmento e município, sazonalidade, histórico por empresa.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178808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0507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hiperparâmetros dos embeddings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3799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eles competem em desvantagem, e já vencem em quase tudo.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047488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919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o CRM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2486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cenário hipotético, um sinal para quem atende de que vale aprofundar — não uma ordem de venda.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6144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github.com/lucassmsantoss/aprendizado-profundo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2026-09-11T21:34:30Z</dcterms:created>
  <dcterms:modified xsi:type="dcterms:W3CDTF">2026-09-11T21:34:30Z</dcterms:modified>
</cp:coreProperties>
</file>